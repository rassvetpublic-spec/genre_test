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FE0D0"/>
          </a:solidFill>
          <a:ln w="12700">
            <a:solidFill>
              <a:srgbClr val="3FE0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F778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GENRE_TEST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65836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3FE0D0">
              <a:alpha val="18000"/>
            </a:srgbClr>
          </a:solidFill>
          <a:ln w="10160">
            <a:solidFill>
              <a:srgbClr val="3FE0D0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72694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FE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ЛОКАЛЬНАЯ МУЗЫКАЛЬНАЯ ЛАБОРАТОРИЯ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21792" y="1325880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Genre_test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 анализа жанра — к полному циклу работы с музыкой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Анализ  •  Поиск  •  Сравнение  •  Восстановление  •  Финальная подготовка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903720" y="3616452"/>
            <a:ext cx="266252" cy="-392278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69972" y="3224174"/>
            <a:ext cx="266252" cy="-724205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36224" y="2499970"/>
            <a:ext cx="266252" cy="543154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02475" y="3043123"/>
            <a:ext cx="266252" cy="-1327709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68727" y="1715414"/>
            <a:ext cx="266252" cy="1056132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34979" y="2771546"/>
            <a:ext cx="266252" cy="-1478585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1231" y="1292962"/>
            <a:ext cx="266252" cy="1116482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67482" y="2409444"/>
            <a:ext cx="266252" cy="724205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33734" y="3133649"/>
            <a:ext cx="266252" cy="-1176833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99986" y="1956816"/>
            <a:ext cx="266252" cy="724205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66238" y="2681021"/>
            <a:ext cx="266252" cy="-1086307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32489" y="1594714"/>
            <a:ext cx="266252" cy="1297534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98741" y="2892247"/>
            <a:ext cx="266252" cy="-754380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64993" y="2137867"/>
            <a:ext cx="266252" cy="1176833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31245" y="3314700"/>
            <a:ext cx="266252" cy="-694030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97496" y="2620670"/>
            <a:ext cx="266252" cy="905256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63748" y="3525926"/>
            <a:ext cx="266252" cy="-482803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2011680"/>
            <a:ext cx="1417320" cy="1417320"/>
          </a:xfrm>
          <a:prstGeom prst="ellipse">
            <a:avLst/>
          </a:prstGeom>
          <a:solidFill>
            <a:srgbClr val="9B7BFF">
              <a:alpha val="22000"/>
            </a:srgbClr>
          </a:solidFill>
          <a:ln w="12700">
            <a:solidFill>
              <a:srgbClr val="9B7B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160520"/>
            <a:ext cx="10561320" cy="1170432"/>
          </a:xfrm>
          <a:prstGeom prst="roundRect">
            <a:avLst>
              <a:gd name="adj" fmla="val 9375"/>
            </a:avLst>
          </a:prstGeom>
          <a:solidFill>
            <a:srgbClr val="10141C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462272"/>
            <a:ext cx="10040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Главная идея: загрузить трек и получить понятный музыкальный паспорт, найти похожее, увидеть слабые места и довести материал до проверенного финала — локально на своём компьютере.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просто «определитель жанра»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Проект растёт в единую рабочую среду для музыки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438912" cy="438912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7510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44168" y="18653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Понять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44168" y="2295144"/>
            <a:ext cx="257860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Что за музыка перед нами: стиль, темп, тональность, настроение, вокал, инструменты, энергия.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334256" y="1691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7136" y="1874520"/>
            <a:ext cx="438912" cy="438912"/>
          </a:xfrm>
          <a:prstGeom prst="ellipse">
            <a:avLst/>
          </a:prstGeom>
          <a:solidFill>
            <a:srgbClr val="5EA8FF">
              <a:alpha val="90000"/>
            </a:srgbClr>
          </a:solidFill>
          <a:ln w="12700">
            <a:solidFill>
              <a:srgbClr val="5EA8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97510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84064" y="18653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Найти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84064" y="2295144"/>
            <a:ext cx="257860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Похожие треки, похожие фрагменты и музыку по обычному текстовому запросу.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74152" y="1691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57032" y="1874520"/>
            <a:ext cx="438912" cy="438912"/>
          </a:xfrm>
          <a:prstGeom prst="ellipse">
            <a:avLst/>
          </a:prstGeom>
          <a:solidFill>
            <a:srgbClr val="9B7BFF">
              <a:alpha val="90000"/>
            </a:srgbClr>
          </a:solidFill>
          <a:ln w="12700">
            <a:solidFill>
              <a:srgbClr val="9B7B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97510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Исправить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823960" y="2295144"/>
            <a:ext cx="257860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Найти проблемные места, подготовить несколько безопасных вариантов восстановления и сравнить их.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2468880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4069080"/>
            <a:ext cx="438912" cy="438912"/>
          </a:xfrm>
          <a:prstGeom prst="ellipse">
            <a:avLst/>
          </a:prstGeom>
          <a:solidFill>
            <a:srgbClr val="FFB45E">
              <a:alpha val="90000"/>
            </a:srgbClr>
          </a:solidFill>
          <a:ln w="12700">
            <a:solidFill>
              <a:srgbClr val="FFB45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416966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18688" y="40599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Довести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218688" y="4489704"/>
            <a:ext cx="257860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Подготовить несколько финальных вариантов и проверить, что обработка действительно улучшила звук.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6208776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1656" y="4069080"/>
            <a:ext cx="438912" cy="438912"/>
          </a:xfrm>
          <a:prstGeom prst="ellipse">
            <a:avLst/>
          </a:prstGeom>
          <a:solidFill>
            <a:srgbClr val="67E28F">
              <a:alpha val="90000"/>
            </a:srgbClr>
          </a:solidFill>
          <a:ln w="12700">
            <a:solidFill>
              <a:srgbClr val="67E28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416966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58584" y="40599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Сохранить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58584" y="4489704"/>
            <a:ext cx="257860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Метаданные, история действий, версии файлов, отчёты и понятный экспорт.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Что уже есть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Стабильная база, на которой строится следующий этап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42032" cy="1371600"/>
          </a:xfrm>
          <a:prstGeom prst="roundRect">
            <a:avLst>
              <a:gd name="adj" fmla="val 8000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9222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E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Жанр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2286000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Основной стиль, семейство, вторичные влияния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645920"/>
            <a:ext cx="2542032" cy="1371600"/>
          </a:xfrm>
          <a:prstGeom prst="roundRect">
            <a:avLst>
              <a:gd name="adj" fmla="val 8000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9584" y="179222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A8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BPM + Key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29584" y="2286000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Темп, тональность и лад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9904" y="1645920"/>
            <a:ext cx="2542032" cy="1371600"/>
          </a:xfrm>
          <a:prstGeom prst="roundRect">
            <a:avLst>
              <a:gd name="adj" fmla="val 8000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79222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7B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Semantic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54496" y="2286000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Настроение, вокал, инструменты, производство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14816" y="1645920"/>
            <a:ext cx="2542032" cy="1371600"/>
          </a:xfrm>
          <a:prstGeom prst="roundRect">
            <a:avLst>
              <a:gd name="adj" fmla="val 8000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9408" y="179222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7E2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Batch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79408" y="2286000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Пакетный анализ больших коллекций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5276088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566160"/>
            <a:ext cx="438912" cy="438912"/>
          </a:xfrm>
          <a:prstGeom prst="ellipse">
            <a:avLst/>
          </a:prstGeom>
          <a:solidFill>
            <a:srgbClr val="FFB45E">
              <a:alpha val="90000"/>
            </a:srgbClr>
          </a:solidFill>
          <a:ln w="12700">
            <a:solidFill>
              <a:srgbClr val="FFB45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667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89888" y="3557016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История и сравнение версий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89888" y="3986784"/>
            <a:ext cx="43342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Можно повторно проверять треки, смотреть расхождения и видеть, когда результат меняется между версиями.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6089904" y="3383280"/>
            <a:ext cx="5276088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3566160"/>
            <a:ext cx="438912" cy="438912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6667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39712" y="3557016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Проверка среды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839712" y="3986784"/>
            <a:ext cx="43342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Программа контролирует зависимости, режим CPU/GPU и состояние запуска вместо скрытых падений.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777240" y="5349240"/>
            <a:ext cx="10561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Следующий шаг — превратить отдельные цифры в связную картину трека и сделать поиск по музыке таким же естественным, как поиск по тексту.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v0.5 — музыка становится «понятной»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Главный этап: глубокий анализ + поиск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3529584" cy="1572768"/>
          </a:xfrm>
          <a:prstGeom prst="roundRect">
            <a:avLst>
              <a:gd name="adj" fmla="val 697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55648"/>
            <a:ext cx="438912" cy="438912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44168" y="174650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Поиск похожего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44168" y="2176272"/>
            <a:ext cx="2587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Выбрать один трек и получить ближайшие по общему звучанию композиции.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325112" y="1572768"/>
            <a:ext cx="3529584" cy="1572768"/>
          </a:xfrm>
          <a:prstGeom prst="roundRect">
            <a:avLst>
              <a:gd name="adj" fmla="val 697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755648"/>
            <a:ext cx="438912" cy="438912"/>
          </a:xfrm>
          <a:prstGeom prst="ellipse">
            <a:avLst/>
          </a:prstGeom>
          <a:solidFill>
            <a:srgbClr val="5EA8FF">
              <a:alpha val="90000"/>
            </a:srgbClr>
          </a:solidFill>
          <a:ln w="12700">
            <a:solidFill>
              <a:srgbClr val="5EA8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85623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4920" y="174650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Поиск словами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74920" y="2176272"/>
            <a:ext cx="2587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Написать «мрачный электронный трек с женским вокалом» и получить реальные совпадения.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55864" y="1572768"/>
            <a:ext cx="3529584" cy="1572768"/>
          </a:xfrm>
          <a:prstGeom prst="roundRect">
            <a:avLst>
              <a:gd name="adj" fmla="val 697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8744" y="1755648"/>
            <a:ext cx="438912" cy="438912"/>
          </a:xfrm>
          <a:prstGeom prst="ellipse">
            <a:avLst/>
          </a:prstGeom>
          <a:solidFill>
            <a:srgbClr val="9B7BFF">
              <a:alpha val="90000"/>
            </a:srgbClr>
          </a:solidFill>
          <a:ln w="12700">
            <a:solidFill>
              <a:srgbClr val="9B7B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185623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05672" y="174650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Поиск по фрагменту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805672" y="2176272"/>
            <a:ext cx="2587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Искать похожий припев, дроп, интро или выбранные 30 секунд.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594360" y="3401568"/>
            <a:ext cx="3529584" cy="1572768"/>
          </a:xfrm>
          <a:prstGeom prst="roundRect">
            <a:avLst>
              <a:gd name="adj" fmla="val 697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584448"/>
            <a:ext cx="438912" cy="438912"/>
          </a:xfrm>
          <a:prstGeom prst="ellipse">
            <a:avLst/>
          </a:prstGeom>
          <a:solidFill>
            <a:srgbClr val="FFB45E">
              <a:alpha val="90000"/>
            </a:srgbClr>
          </a:solidFill>
          <a:ln w="12700">
            <a:solidFill>
              <a:srgbClr val="FFB45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68503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44168" y="357530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Карта структуры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44168" y="4005072"/>
            <a:ext cx="2587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Видеть, как меняются энергия и характер музыки по времени.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4325112" y="3401568"/>
            <a:ext cx="3529584" cy="1572768"/>
          </a:xfrm>
          <a:prstGeom prst="roundRect">
            <a:avLst>
              <a:gd name="adj" fmla="val 697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3584448"/>
            <a:ext cx="438912" cy="438912"/>
          </a:xfrm>
          <a:prstGeom prst="ellipse">
            <a:avLst/>
          </a:prstGeom>
          <a:solidFill>
            <a:srgbClr val="67E28F">
              <a:alpha val="90000"/>
            </a:srgbClr>
          </a:solidFill>
          <a:ln w="12700">
            <a:solidFill>
              <a:srgbClr val="67E28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368503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357530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Core Sound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074920" y="4005072"/>
            <a:ext cx="2587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Короткий ответ: как трек звучит в целом — тёмный, мощный, воздушный, пульсирующий и т. п.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8055864" y="3401568"/>
            <a:ext cx="3529584" cy="1572768"/>
          </a:xfrm>
          <a:prstGeom prst="roundRect">
            <a:avLst>
              <a:gd name="adj" fmla="val 697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38744" y="3584448"/>
            <a:ext cx="438912" cy="438912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38744" y="368503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05672" y="357530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Технический паспорт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805672" y="4005072"/>
            <a:ext cx="2587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Громкость, пики, спектр, стерео, динамика и другие измеряемые параметры отдельно от догадок.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4462272" y="5504688"/>
            <a:ext cx="3273552" cy="310896"/>
          </a:xfrm>
          <a:prstGeom prst="roundRect">
            <a:avLst>
              <a:gd name="adj" fmla="val 50000"/>
            </a:avLst>
          </a:prstGeom>
          <a:solidFill>
            <a:srgbClr val="9B7BFF">
              <a:alpha val="18000"/>
            </a:srgbClr>
          </a:solidFill>
          <a:ln w="10160">
            <a:solidFill>
              <a:srgbClr val="9B7BFF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5573268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B7B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КЛЮЧЕВОЙ РЕЛИЗ ДЛЯ НОВОЙ АРХИТЕКТУРЫ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Поиск, который понимает смысл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только жанр — важна вся звуковая картина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166360" cy="1143000"/>
          </a:xfrm>
          <a:prstGeom prst="roundRect">
            <a:avLst>
              <a:gd name="adj" fmla="val 9600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83664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«спокойный ночной трек без вокала, медленный и атмосферный»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16752" y="1901952"/>
            <a:ext cx="777240" cy="502920"/>
          </a:xfrm>
          <a:prstGeom prst="chevron">
            <a:avLst/>
          </a:prstGeom>
          <a:solidFill>
            <a:srgbClr val="3FE0D0"/>
          </a:solidFill>
          <a:ln w="12700">
            <a:solidFill>
              <a:srgbClr val="3FE0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1298448"/>
            <a:ext cx="4526280" cy="1828800"/>
          </a:xfrm>
          <a:prstGeom prst="roundRect">
            <a:avLst>
              <a:gd name="adj" fmla="val 6000"/>
            </a:avLst>
          </a:prstGeom>
          <a:solidFill>
            <a:srgbClr val="10141C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157276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67E28F">
              <a:alpha val="18000"/>
            </a:srgbClr>
          </a:solidFill>
          <a:ln w="10160">
            <a:solidFill>
              <a:srgbClr val="67E28F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6413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7E2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РЕЗУЛЬТАТ 1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732520" y="157276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5EA8FF">
              <a:alpha val="18000"/>
            </a:srgbClr>
          </a:solidFill>
          <a:ln w="10160">
            <a:solidFill>
              <a:srgbClr val="5EA8FF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3960" y="16413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5EA8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РЕЗУЛЬТАТ 2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10195560" y="157276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9B7BFF">
              <a:alpha val="18000"/>
            </a:srgbClr>
          </a:solidFill>
          <a:ln w="10160">
            <a:solidFill>
              <a:srgbClr val="9B7BFF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0" y="1641348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B7B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...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7278624" y="2121408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Система ищет музыку, близкую по общему ощущению, ритму, плотности, настроению и тембру.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3730752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13632"/>
            <a:ext cx="438912" cy="438912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0142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08176" y="39044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 целому треку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08176" y="4334256"/>
            <a:ext cx="24414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Для быстрого поиска музыки с похожим общим характером.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4407408" y="3730752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0288" y="3913632"/>
            <a:ext cx="438912" cy="438912"/>
          </a:xfrm>
          <a:prstGeom prst="ellipse">
            <a:avLst/>
          </a:prstGeom>
          <a:solidFill>
            <a:srgbClr val="5EA8FF">
              <a:alpha val="90000"/>
            </a:srgbClr>
          </a:solidFill>
          <a:ln w="12700">
            <a:solidFill>
              <a:srgbClr val="5EA8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40142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57216" y="39044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 лучшему фрагменту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157216" y="4334256"/>
            <a:ext cx="24414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Система сама выбирает наиболее характерную часть композиции.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8156448" y="3730752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39328" y="3913632"/>
            <a:ext cx="438912" cy="438912"/>
          </a:xfrm>
          <a:prstGeom prst="ellipse">
            <a:avLst/>
          </a:prstGeom>
          <a:solidFill>
            <a:srgbClr val="9B7BFF">
              <a:alpha val="90000"/>
            </a:srgbClr>
          </a:solidFill>
          <a:ln w="12700">
            <a:solidFill>
              <a:srgbClr val="9B7B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9328" y="40142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06256" y="39044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 выбранному месту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906256" y="4334256"/>
            <a:ext cx="24414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Можно указать конкретный момент — например, только припев.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822960" y="56692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Русский текстовый поиск — обязательный сценарий.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Трек перестаёт быть одной строкой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Структура и изменение музыки по времени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5EA8FF">
              <a:alpha val="28000"/>
            </a:srgbClr>
          </a:solidFill>
          <a:ln w="12700">
            <a:solidFill>
              <a:srgbClr val="5EA8FF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2140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Интро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246888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низкая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48840" y="18745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3FE0D0">
              <a:alpha val="28000"/>
            </a:srgbClr>
          </a:solidFill>
          <a:ln w="12700">
            <a:solidFill>
              <a:srgbClr val="3FE0D0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1992" y="212140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Куплет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21992" y="246888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средняя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0" y="18745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B45E">
              <a:alpha val="28000"/>
            </a:srgbClr>
          </a:solidFill>
          <a:ln w="12700">
            <a:solidFill>
              <a:srgbClr val="FFB45E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6512" y="212140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Припев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96512" y="246888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высокая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87452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9B7BFF">
              <a:alpha val="28000"/>
            </a:srgbClr>
          </a:solidFill>
          <a:ln w="12700">
            <a:solidFill>
              <a:srgbClr val="9B7BF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21214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Бридж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53912" y="246888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спад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43800" y="18745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6C7A">
              <a:alpha val="28000"/>
            </a:srgbClr>
          </a:solidFill>
          <a:ln w="12700">
            <a:solidFill>
              <a:srgbClr val="FF6C7A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16952" y="212140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Припев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16952" y="246888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пик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601200" y="187452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5EA8FF">
              <a:alpha val="28000"/>
            </a:srgbClr>
          </a:solidFill>
          <a:ln w="12700">
            <a:solidFill>
              <a:srgbClr val="5EA8F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74352" y="2121408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Аутро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74352" y="246888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низкая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8096" y="3310128"/>
            <a:ext cx="10378440" cy="0"/>
          </a:xfrm>
          <a:prstGeom prst="line">
            <a:avLst/>
          </a:prstGeom>
          <a:noFill/>
          <a:ln w="25400">
            <a:solidFill>
              <a:srgbClr val="2C34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56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00:00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2267712" y="3456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00:24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032504" y="3456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01:02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797296" y="3456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01:34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562088" y="3456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02:08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326880" y="3456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02:32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1091672" y="3456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03:10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77240" y="4096512"/>
            <a:ext cx="3337560" cy="1417320"/>
          </a:xfrm>
          <a:prstGeom prst="roundRect">
            <a:avLst>
              <a:gd name="adj" fmla="val 7742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4279392"/>
            <a:ext cx="438912" cy="438912"/>
          </a:xfrm>
          <a:prstGeom prst="ellipse">
            <a:avLst/>
          </a:prstGeom>
          <a:solidFill>
            <a:srgbClr val="67E28F">
              <a:alpha val="90000"/>
            </a:srgbClr>
          </a:solidFill>
          <a:ln w="12700">
            <a:solidFill>
              <a:srgbClr val="67E28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37997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27048" y="42702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Быстрее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527048" y="4700016"/>
            <a:ext cx="23957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тратить одинаковое время на тишину, длинное интро и основной материал.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4434840" y="4096512"/>
            <a:ext cx="3337560" cy="1417320"/>
          </a:xfrm>
          <a:prstGeom prst="roundRect">
            <a:avLst>
              <a:gd name="adj" fmla="val 7742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4279392"/>
            <a:ext cx="438912" cy="438912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437997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84648" y="42702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Точнее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184648" y="4700016"/>
            <a:ext cx="23957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Видеть смену энергии, характера и музыкальной плотности.</a:t>
            </a:r>
            <a:endParaRPr lang="en-US" sz="1070" dirty="0"/>
          </a:p>
        </p:txBody>
      </p:sp>
      <p:sp>
        <p:nvSpPr>
          <p:cNvPr id="40" name="Shape 38"/>
          <p:cNvSpPr/>
          <p:nvPr/>
        </p:nvSpPr>
        <p:spPr>
          <a:xfrm>
            <a:off x="8092440" y="4096512"/>
            <a:ext cx="3337560" cy="1417320"/>
          </a:xfrm>
          <a:prstGeom prst="roundRect">
            <a:avLst>
              <a:gd name="adj" fmla="val 7742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75320" y="4279392"/>
            <a:ext cx="438912" cy="438912"/>
          </a:xfrm>
          <a:prstGeom prst="ellipse">
            <a:avLst/>
          </a:prstGeom>
          <a:solidFill>
            <a:srgbClr val="9B7BFF">
              <a:alpha val="90000"/>
            </a:srgbClr>
          </a:solidFill>
          <a:ln w="12700">
            <a:solidFill>
              <a:srgbClr val="9B7B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75320" y="437997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842248" y="42702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Полезнее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842248" y="4700016"/>
            <a:ext cx="23957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Искать, сравнивать и исправлять конкретные участки, а не весь файл сразу.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Человеческий музыкальный паспорт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Понятные слова поверх точных измерений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6903720" cy="4160520"/>
          </a:xfrm>
          <a:prstGeom prst="roundRect">
            <a:avLst>
              <a:gd name="adj" fmla="val 2637"/>
            </a:avLst>
          </a:prstGeom>
          <a:solidFill>
            <a:srgbClr val="10141C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556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3FE0D0">
              <a:alpha val="18000"/>
            </a:srgbClr>
          </a:solidFill>
          <a:ln w="10160">
            <a:solidFill>
              <a:srgbClr val="3FE0D0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422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FE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CORE SOUND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6355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Мощный, тёмный, пульсирующий электронный трек с плотным низом и яркой синтетической фактурой.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3192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Энергия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84832" y="33192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B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Высокая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41648" y="33192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Движение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0" y="33192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FE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Пульс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Характер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84832" y="3977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B7B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Тёмный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41648" y="39776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Вокал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3977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7E2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6360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Темп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84832" y="46360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EA8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174 BPM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041648" y="46360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Уверенность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0" y="46360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7E2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Высокая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45552" y="1481328"/>
            <a:ext cx="3639312" cy="1188720"/>
          </a:xfrm>
          <a:prstGeom prst="roundRect">
            <a:avLst>
              <a:gd name="adj" fmla="val 9231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8432" y="1664208"/>
            <a:ext cx="438912" cy="438912"/>
          </a:xfrm>
          <a:prstGeom prst="ellipse">
            <a:avLst/>
          </a:prstGeom>
          <a:solidFill>
            <a:srgbClr val="67E28F">
              <a:alpha val="90000"/>
            </a:srgbClr>
          </a:solidFill>
          <a:ln w="12700">
            <a:solidFill>
              <a:srgbClr val="67E28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8432" y="176479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1655064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Без фантазий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595360" y="208483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Описание собирается из реально полученных результатов.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7845552" y="2816352"/>
            <a:ext cx="3639312" cy="1188720"/>
          </a:xfrm>
          <a:prstGeom prst="roundRect">
            <a:avLst>
              <a:gd name="adj" fmla="val 9231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2999232"/>
            <a:ext cx="438912" cy="438912"/>
          </a:xfrm>
          <a:prstGeom prst="ellipse">
            <a:avLst/>
          </a:prstGeom>
          <a:solidFill>
            <a:srgbClr val="FFB45E">
              <a:alpha val="90000"/>
            </a:srgbClr>
          </a:solidFill>
          <a:ln w="12700">
            <a:solidFill>
              <a:srgbClr val="FFB45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30998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95360" y="299008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 честной уверенностью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595360" y="341985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Если данных мало или признаки спорные — система это показывает.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7845552" y="4151376"/>
            <a:ext cx="3639312" cy="1490472"/>
          </a:xfrm>
          <a:prstGeom prst="roundRect">
            <a:avLst>
              <a:gd name="adj" fmla="val 7362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28432" y="4334256"/>
            <a:ext cx="438912" cy="438912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28432" y="443484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95360" y="4325112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Измерения отдельно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595360" y="4754880"/>
            <a:ext cx="2697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Громкость, спектр и стерео не смешиваются с художественными характеристиками.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v0.6 — Repair &amp; Stem Lab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просто найти проблему — помочь её исправить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38912" cy="438912"/>
          </a:xfrm>
          <a:prstGeom prst="ellipse">
            <a:avLst/>
          </a:prstGeom>
          <a:solidFill>
            <a:srgbClr val="FF6C7A">
              <a:alpha val="90000"/>
            </a:srgbClr>
          </a:solidFill>
          <a:ln w="12700">
            <a:solidFill>
              <a:srgbClr val="FF6C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379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89888" y="17282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Найти дефект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89888" y="2157984"/>
            <a:ext cx="25786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Щелчки, цифровая «стеклянность», нестабильный низ, перегруз, резкие ВЧ и другие подозрительные места.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334256" y="15544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7136" y="1737360"/>
            <a:ext cx="438912" cy="438912"/>
          </a:xfrm>
          <a:prstGeom prst="ellipse">
            <a:avLst/>
          </a:prstGeom>
          <a:solidFill>
            <a:srgbClr val="67E28F">
              <a:alpha val="90000"/>
            </a:srgbClr>
          </a:solidFill>
          <a:ln w="12700">
            <a:solidFill>
              <a:srgbClr val="67E28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8379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84064" y="17282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Сделать копии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84064" y="2157984"/>
            <a:ext cx="25786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Оригинал остаётся нетронутым. Исправления создаются как отдельные варианты.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28432" y="15544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737360"/>
            <a:ext cx="438912" cy="438912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18379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78240" y="17282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Сравнить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778240" y="2157984"/>
            <a:ext cx="25786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До/после и несколько вариантов восстановления можно честно прослушать и измерить.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703320"/>
            <a:ext cx="438912" cy="438912"/>
          </a:xfrm>
          <a:prstGeom prst="ellipse">
            <a:avLst/>
          </a:prstGeom>
          <a:solidFill>
            <a:srgbClr val="9B7BFF">
              <a:alpha val="90000"/>
            </a:srgbClr>
          </a:solidFill>
          <a:ln w="12700">
            <a:solidFill>
              <a:srgbClr val="9B7B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80390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89888" y="3694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Ремонт вокала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89888" y="4123944"/>
            <a:ext cx="25786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Свистящие, резкие согласные, провалы, странные окончания, цифровые артефакты.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4334256" y="35204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17136" y="3703320"/>
            <a:ext cx="438912" cy="438912"/>
          </a:xfrm>
          <a:prstGeom prst="ellipse">
            <a:avLst/>
          </a:prstGeom>
          <a:solidFill>
            <a:srgbClr val="5EA8FF">
              <a:alpha val="90000"/>
            </a:srgbClr>
          </a:solidFill>
          <a:ln w="12700">
            <a:solidFill>
              <a:srgbClr val="5EA8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17136" y="380390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4064" y="3694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Разделение на части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084064" y="4123944"/>
            <a:ext cx="25786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Вокал, ударные, бас и остальная музыка — для точечной работы.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8028432" y="35204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11312" y="3703320"/>
            <a:ext cx="438912" cy="438912"/>
          </a:xfrm>
          <a:prstGeom prst="ellipse">
            <a:avLst/>
          </a:prstGeom>
          <a:solidFill>
            <a:srgbClr val="FFB45E">
              <a:alpha val="90000"/>
            </a:srgbClr>
          </a:solidFill>
          <a:ln w="12700">
            <a:solidFill>
              <a:srgbClr val="FFB45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11312" y="380390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78240" y="3694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Контроль потерь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778240" y="4123944"/>
            <a:ext cx="25786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После разделения и ремонта проверяется, не стало ли хуже исходника.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4297680" y="5623560"/>
            <a:ext cx="3566160" cy="310896"/>
          </a:xfrm>
          <a:prstGeom prst="roundRect">
            <a:avLst>
              <a:gd name="adj" fmla="val 50000"/>
            </a:avLst>
          </a:prstGeom>
          <a:solidFill>
            <a:srgbClr val="67E28F">
              <a:alpha val="18000"/>
            </a:srgbClr>
          </a:solidFill>
          <a:ln w="10160">
            <a:solidFill>
              <a:srgbClr val="67E28F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5692140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7E2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ПРИНЦИП: ОРИГИНАЛ НЕ ТРОГАЕМ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v0.7 — Studio Finish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Несколько кандидатов вместо одного «магического» результата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562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5EA8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Мягче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066544" y="187452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меньше резкости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98848" y="1691640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0016" y="18562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B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Плотнее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833872" y="187452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больше тела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66176" y="1691640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18562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9B7B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Темнее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0" y="187452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меньше стекла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0906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FE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Шире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066544" y="310896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больше пространства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98848" y="2926080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30906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6C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Ударнее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833872" y="310896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сильнее атака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66176" y="2926080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30906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67E2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Динамичнее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601200" y="310896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меньше зажатости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77256" y="4251960"/>
            <a:ext cx="1143000" cy="640080"/>
          </a:xfrm>
          <a:prstGeom prst="chevron">
            <a:avLst/>
          </a:prstGeom>
          <a:solidFill>
            <a:srgbClr val="3FE0D0"/>
          </a:solidFill>
          <a:ln w="12700">
            <a:solidFill>
              <a:srgbClr val="3FE0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16352" y="5138928"/>
            <a:ext cx="6565392" cy="658368"/>
          </a:xfrm>
          <a:prstGeom prst="roundRect">
            <a:avLst>
              <a:gd name="adj" fmla="val 16667"/>
            </a:avLst>
          </a:prstGeom>
          <a:solidFill>
            <a:srgbClr val="10141C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5340096"/>
            <a:ext cx="6016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Синхронное A/B/X → одинаковая позиция → честная громкость → заметки → победитель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777240" y="599846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Система не выбирает финал только потому, что он громче.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v0.8 — порядок в коллекции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Метаданные, версии файлов и понятный экспорт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56432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438912" cy="438912"/>
          </a:xfrm>
          <a:prstGeom prst="ellipse">
            <a:avLst/>
          </a:prstGeom>
          <a:solidFill>
            <a:srgbClr val="FFB45E">
              <a:alpha val="90000"/>
            </a:srgbClr>
          </a:solidFill>
          <a:ln w="12700">
            <a:solidFill>
              <a:srgbClr val="FFB45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8366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89888" y="1773936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Аудитор тегов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89888" y="2203704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Находит пустые поля, противоречия, мусор, проблемы кодировки и странные имена.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370832" y="1600200"/>
            <a:ext cx="3456432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783080"/>
            <a:ext cx="438912" cy="438912"/>
          </a:xfrm>
          <a:prstGeom prst="ellipse">
            <a:avLst/>
          </a:prstGeom>
          <a:solidFill>
            <a:srgbClr val="67E28F">
              <a:alpha val="90000"/>
            </a:srgbClr>
          </a:solidFill>
          <a:ln w="12700">
            <a:solidFill>
              <a:srgbClr val="67E28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88366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1773936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Пакетное исправление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120640" y="2203704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Сначала показывает план изменений, потом применяет его к выбранным файлам.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456432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783080"/>
            <a:ext cx="438912" cy="438912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88366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51392" y="1773936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Умный каталог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851392" y="2203704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Группирует похожее, ищет почти одинаковые версии и музыкальные «островки».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3456432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438912" cy="438912"/>
          </a:xfrm>
          <a:prstGeom prst="ellipse">
            <a:avLst/>
          </a:prstGeom>
          <a:solidFill>
            <a:srgbClr val="5EA8FF">
              <a:alpha val="90000"/>
            </a:srgbClr>
          </a:solidFill>
          <a:ln w="12700">
            <a:solidFill>
              <a:srgbClr val="5EA8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84962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89888" y="3739896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История файла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89888" y="4169664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Исходник → версии → анализ → обработка → финал. Всегда понятно, что откуда взялось.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4370832" y="3566160"/>
            <a:ext cx="3456432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3749040"/>
            <a:ext cx="438912" cy="438912"/>
          </a:xfrm>
          <a:prstGeom prst="ellipse">
            <a:avLst/>
          </a:prstGeom>
          <a:solidFill>
            <a:srgbClr val="9B7BFF">
              <a:alpha val="90000"/>
            </a:srgbClr>
          </a:solidFill>
          <a:ln w="12700">
            <a:solidFill>
              <a:srgbClr val="9B7B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384962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3739896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Контроль целостности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120640" y="4169664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Можно проверить, что файл не был случайно подменён или повреждён.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8101584" y="3566160"/>
            <a:ext cx="3456432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3749040"/>
            <a:ext cx="438912" cy="438912"/>
          </a:xfrm>
          <a:prstGeom prst="ellipse">
            <a:avLst/>
          </a:prstGeom>
          <a:solidFill>
            <a:srgbClr val="67E28F">
              <a:alpha val="90000"/>
            </a:srgbClr>
          </a:solidFill>
          <a:ln w="12700">
            <a:solidFill>
              <a:srgbClr val="67E28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84464" y="384962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51392" y="3739896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Профили экспорта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851392" y="4169664"/>
            <a:ext cx="2514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Архив, стриминг, видео, рабочая копия, отправка заказчику — с автоматической проверкой.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v0.9 — визуальный конструктор и умная VRAM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Сложные цепочки без ручного программирования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234440" cy="694944"/>
          </a:xfrm>
          <a:prstGeom prst="roundRect">
            <a:avLst>
              <a:gd name="adj" fmla="val 15789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11226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A8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Загрузить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29384" y="2084832"/>
            <a:ext cx="347472" cy="274320"/>
          </a:xfrm>
          <a:prstGeom prst="chevron">
            <a:avLst/>
          </a:prstGeom>
          <a:solidFill>
            <a:srgbClr val="394252"/>
          </a:solidFill>
          <a:ln w="12700">
            <a:solidFill>
              <a:srgbClr val="3942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874520"/>
            <a:ext cx="1234440" cy="694944"/>
          </a:xfrm>
          <a:prstGeom prst="roundRect">
            <a:avLst>
              <a:gd name="adj" fmla="val 15789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13432" y="211226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E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Анализ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75304" y="2084832"/>
            <a:ext cx="347472" cy="274320"/>
          </a:xfrm>
          <a:prstGeom prst="chevron">
            <a:avLst/>
          </a:prstGeom>
          <a:solidFill>
            <a:srgbClr val="394252"/>
          </a:solidFill>
          <a:ln w="12700">
            <a:solidFill>
              <a:srgbClr val="3942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1874520"/>
            <a:ext cx="1234440" cy="694944"/>
          </a:xfrm>
          <a:prstGeom prst="roundRect">
            <a:avLst>
              <a:gd name="adj" fmla="val 15789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9352" y="211226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C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Дефекты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21224" y="2084832"/>
            <a:ext cx="347472" cy="274320"/>
          </a:xfrm>
          <a:prstGeom prst="chevron">
            <a:avLst/>
          </a:prstGeom>
          <a:solidFill>
            <a:srgbClr val="394252"/>
          </a:solidFill>
          <a:ln w="12700">
            <a:solidFill>
              <a:srgbClr val="3942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1874520"/>
            <a:ext cx="1234440" cy="694944"/>
          </a:xfrm>
          <a:prstGeom prst="roundRect">
            <a:avLst>
              <a:gd name="adj" fmla="val 15789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05272" y="211226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7B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Исправить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67144" y="2084832"/>
            <a:ext cx="347472" cy="274320"/>
          </a:xfrm>
          <a:prstGeom prst="chevron">
            <a:avLst/>
          </a:prstGeom>
          <a:solidFill>
            <a:srgbClr val="394252"/>
          </a:solidFill>
          <a:ln w="12700">
            <a:solidFill>
              <a:srgbClr val="3942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1874520"/>
            <a:ext cx="1234440" cy="694944"/>
          </a:xfrm>
          <a:prstGeom prst="roundRect">
            <a:avLst>
              <a:gd name="adj" fmla="val 15789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51192" y="211226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Сравнить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13064" y="2084832"/>
            <a:ext cx="347472" cy="274320"/>
          </a:xfrm>
          <a:prstGeom prst="chevron">
            <a:avLst/>
          </a:prstGeom>
          <a:solidFill>
            <a:srgbClr val="394252"/>
          </a:solidFill>
          <a:ln w="12700">
            <a:solidFill>
              <a:srgbClr val="3942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1874520"/>
            <a:ext cx="1234440" cy="694944"/>
          </a:xfrm>
          <a:prstGeom prst="roundRect">
            <a:avLst>
              <a:gd name="adj" fmla="val 15789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97112" y="211226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7E2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Экспорт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33756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520440"/>
            <a:ext cx="438912" cy="438912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2102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81328" y="35112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VRAM под контролем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481328" y="3941064"/>
            <a:ext cx="23957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Система знает, сколько памяти занято, и не пытается загрузить всё одновременно.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4434840" y="333756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3520440"/>
            <a:ext cx="438912" cy="438912"/>
          </a:xfrm>
          <a:prstGeom prst="ellipse">
            <a:avLst/>
          </a:prstGeom>
          <a:solidFill>
            <a:srgbClr val="67E28F">
              <a:alpha val="90000"/>
            </a:srgbClr>
          </a:solidFill>
          <a:ln w="12700">
            <a:solidFill>
              <a:srgbClr val="67E28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62102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84648" y="35112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Очередь задач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184648" y="3941064"/>
            <a:ext cx="23957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Пауза, продолжение, отмена, повтор неудачных операций и восстановление после перезапуска.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8138160" y="333756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520440"/>
            <a:ext cx="438912" cy="438912"/>
          </a:xfrm>
          <a:prstGeom prst="ellipse">
            <a:avLst/>
          </a:prstGeom>
          <a:solidFill>
            <a:srgbClr val="9B7BFF">
              <a:alpha val="90000"/>
            </a:srgbClr>
          </a:solidFill>
          <a:ln w="12700">
            <a:solidFill>
              <a:srgbClr val="9B7B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362102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887968" y="35112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Расширение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887968" y="3941064"/>
            <a:ext cx="23957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Новые блоки анализа и обработки можно добавлять без переделки всего приложения.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822960" y="544068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Цель: чтобы мощный локальный компьютер использовался эффективно, а не «падал» из-за нехватки видеопамяти.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v1.0 — один полный путь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 исходника до проверенного финала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658368" cy="658368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7685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" y="285292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Добавить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243584" y="2386584"/>
            <a:ext cx="713232" cy="0"/>
          </a:xfrm>
          <a:prstGeom prst="line">
            <a:avLst/>
          </a:prstGeom>
          <a:noFill/>
          <a:ln w="25400">
            <a:solidFill>
              <a:srgbClr val="3942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2057400"/>
            <a:ext cx="658368" cy="658368"/>
          </a:xfrm>
          <a:prstGeom prst="ellipse">
            <a:avLst/>
          </a:prstGeom>
          <a:solidFill>
            <a:srgbClr val="9B7BFF">
              <a:alpha val="90000"/>
            </a:srgbClr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227685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85292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Понять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2688336" y="2386584"/>
            <a:ext cx="713232" cy="0"/>
          </a:xfrm>
          <a:prstGeom prst="line">
            <a:avLst/>
          </a:prstGeom>
          <a:noFill/>
          <a:ln w="25400">
            <a:solidFill>
              <a:srgbClr val="3942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38144" y="2057400"/>
            <a:ext cx="658368" cy="658368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227685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82112" y="285292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Найти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133088" y="2386584"/>
            <a:ext cx="713232" cy="0"/>
          </a:xfrm>
          <a:prstGeom prst="line">
            <a:avLst/>
          </a:prstGeom>
          <a:noFill/>
          <a:ln w="25400">
            <a:solidFill>
              <a:srgbClr val="3942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2896" y="2057400"/>
            <a:ext cx="658368" cy="658368"/>
          </a:xfrm>
          <a:prstGeom prst="ellipse">
            <a:avLst/>
          </a:prstGeom>
          <a:solidFill>
            <a:srgbClr val="9B7BFF">
              <a:alpha val="90000"/>
            </a:srgbClr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227685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26864" y="285292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Исправить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577840" y="2386584"/>
            <a:ext cx="713232" cy="0"/>
          </a:xfrm>
          <a:prstGeom prst="line">
            <a:avLst/>
          </a:prstGeom>
          <a:noFill/>
          <a:ln w="25400">
            <a:solidFill>
              <a:srgbClr val="3942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2057400"/>
            <a:ext cx="658368" cy="658368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227685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71616" y="285292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Сравнить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022592" y="2386584"/>
            <a:ext cx="713232" cy="0"/>
          </a:xfrm>
          <a:prstGeom prst="line">
            <a:avLst/>
          </a:prstGeom>
          <a:noFill/>
          <a:ln w="25400">
            <a:solidFill>
              <a:srgbClr val="3942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2057400"/>
            <a:ext cx="658368" cy="658368"/>
          </a:xfrm>
          <a:prstGeom prst="ellipse">
            <a:avLst/>
          </a:prstGeom>
          <a:solidFill>
            <a:srgbClr val="9B7BFF">
              <a:alpha val="90000"/>
            </a:srgbClr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227685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16368" y="285292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Довести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467344" y="2386584"/>
            <a:ext cx="713232" cy="0"/>
          </a:xfrm>
          <a:prstGeom prst="line">
            <a:avLst/>
          </a:prstGeom>
          <a:noFill/>
          <a:ln w="25400">
            <a:solidFill>
              <a:srgbClr val="3942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17152" y="2057400"/>
            <a:ext cx="658368" cy="658368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17152" y="227685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0" y="285292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Описать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9912096" y="2386584"/>
            <a:ext cx="713232" cy="0"/>
          </a:xfrm>
          <a:prstGeom prst="line">
            <a:avLst/>
          </a:prstGeom>
          <a:noFill/>
          <a:ln w="25400">
            <a:solidFill>
              <a:srgbClr val="3942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61904" y="2057400"/>
            <a:ext cx="658368" cy="658368"/>
          </a:xfrm>
          <a:prstGeom prst="ellipse">
            <a:avLst/>
          </a:prstGeom>
          <a:solidFill>
            <a:srgbClr val="9B7BFF">
              <a:alpha val="90000"/>
            </a:srgbClr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61904" y="227685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405872" y="285292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Экспорт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960120" y="3977640"/>
            <a:ext cx="10241280" cy="1243584"/>
          </a:xfrm>
          <a:prstGeom prst="roundRect">
            <a:avLst>
              <a:gd name="adj" fmla="val 8824"/>
            </a:avLst>
          </a:prstGeom>
          <a:solidFill>
            <a:srgbClr val="10141C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98448" y="4315968"/>
            <a:ext cx="9555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Простой режим: одна понятная цепочка.  Экспертный режим: версии алгоритмов, точные измерения, сегменты, история действий, параметры обработки и контрольные суммы.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005072" y="5623560"/>
            <a:ext cx="4160520" cy="310896"/>
          </a:xfrm>
          <a:prstGeom prst="roundRect">
            <a:avLst>
              <a:gd name="adj" fmla="val 50000"/>
            </a:avLst>
          </a:prstGeom>
          <a:solidFill>
            <a:srgbClr val="67E28F">
              <a:alpha val="18000"/>
            </a:srgbClr>
          </a:solidFill>
          <a:ln w="10160">
            <a:solidFill>
              <a:srgbClr val="67E28F">
                <a:alpha val="6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96512" y="5692140"/>
            <a:ext cx="3977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7E2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ОРИГИНАЛ ЗАЩИЩЁН • КАЖДЫЙ ШАГ ПРОСЛЕЖИВАЕТСЯ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Дальний горизонт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Функции после основного цикла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3529584" cy="1481328"/>
          </a:xfrm>
          <a:prstGeom prst="roundRect">
            <a:avLst>
              <a:gd name="adj" fmla="val 740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55648"/>
            <a:ext cx="438912" cy="438912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44168" y="174650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Карта всей коллекции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44168" y="2176272"/>
            <a:ext cx="2587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Похожие треки рядом, необычные — сразу заметны. Исследование библиотеки без папок.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325112" y="1572768"/>
            <a:ext cx="3529584" cy="1481328"/>
          </a:xfrm>
          <a:prstGeom prst="roundRect">
            <a:avLst>
              <a:gd name="adj" fmla="val 740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755648"/>
            <a:ext cx="438912" cy="438912"/>
          </a:xfrm>
          <a:prstGeom prst="ellipse">
            <a:avLst/>
          </a:prstGeom>
          <a:solidFill>
            <a:srgbClr val="67E28F">
              <a:alpha val="90000"/>
            </a:srgbClr>
          </a:solidFill>
          <a:ln w="12700">
            <a:solidFill>
              <a:srgbClr val="67E28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85623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4920" y="174650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Умные плейлисты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74920" y="2176272"/>
            <a:ext cx="2587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Правила вместо ручных списков: жанр + энергия + BPM + вокал + характер.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55864" y="1572768"/>
            <a:ext cx="3529584" cy="1481328"/>
          </a:xfrm>
          <a:prstGeom prst="roundRect">
            <a:avLst>
              <a:gd name="adj" fmla="val 740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8744" y="1755648"/>
            <a:ext cx="438912" cy="438912"/>
          </a:xfrm>
          <a:prstGeom prst="ellipse">
            <a:avLst/>
          </a:prstGeom>
          <a:solidFill>
            <a:srgbClr val="FFB45E">
              <a:alpha val="90000"/>
            </a:srgbClr>
          </a:solidFill>
          <a:ln w="12700">
            <a:solidFill>
              <a:srgbClr val="FFB45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185623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05672" y="174650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Почти одинаковые версии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805672" y="2176272"/>
            <a:ext cx="2587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Ремастеры, радио-версии, копии с другой громкостью и альтернативные миксы.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594360" y="3310128"/>
            <a:ext cx="3529584" cy="1481328"/>
          </a:xfrm>
          <a:prstGeom prst="roundRect">
            <a:avLst>
              <a:gd name="adj" fmla="val 740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93008"/>
            <a:ext cx="438912" cy="438912"/>
          </a:xfrm>
          <a:prstGeom prst="ellipse">
            <a:avLst/>
          </a:prstGeom>
          <a:solidFill>
            <a:srgbClr val="9B7BFF">
              <a:alpha val="90000"/>
            </a:srgbClr>
          </a:solidFill>
          <a:ln w="12700">
            <a:solidFill>
              <a:srgbClr val="9B7B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9359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44168" y="348386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Музыкальная эпоха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44168" y="3913632"/>
            <a:ext cx="2587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Оценка эстетики производства: 80-е, 90-е, 2000-е, современное звучание.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4325112" y="3310128"/>
            <a:ext cx="3529584" cy="1481328"/>
          </a:xfrm>
          <a:prstGeom prst="roundRect">
            <a:avLst>
              <a:gd name="adj" fmla="val 740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3493008"/>
            <a:ext cx="438912" cy="438912"/>
          </a:xfrm>
          <a:prstGeom prst="ellipse">
            <a:avLst/>
          </a:prstGeom>
          <a:solidFill>
            <a:srgbClr val="5EA8FF">
              <a:alpha val="90000"/>
            </a:srgbClr>
          </a:solidFill>
          <a:ln w="12700">
            <a:solidFill>
              <a:srgbClr val="5EA8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359359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348386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Для чего подходит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074920" y="3913632"/>
            <a:ext cx="2587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Трейлер, игра, спорт, фон, ночная поездка, напряжённая сцена и другие сценарии.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8055864" y="3310128"/>
            <a:ext cx="3529584" cy="1481328"/>
          </a:xfrm>
          <a:prstGeom prst="roundRect">
            <a:avLst>
              <a:gd name="adj" fmla="val 7407"/>
            </a:avLst>
          </a:prstGeom>
          <a:solidFill>
            <a:srgbClr val="141821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38744" y="3493008"/>
            <a:ext cx="438912" cy="438912"/>
          </a:xfrm>
          <a:prstGeom prst="ellipse">
            <a:avLst/>
          </a:prstGeom>
          <a:solidFill>
            <a:srgbClr val="3FE0D0">
              <a:alpha val="90000"/>
            </a:srgbClr>
          </a:solidFill>
          <a:ln w="12700">
            <a:solidFill>
              <a:srgbClr val="3FE0D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38744" y="359359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D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05672" y="348386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Помощник по каталогу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805672" y="3913632"/>
            <a:ext cx="2587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«Найди 10 самых тёмных треков без вокала около 130 BPM» — обычным языком.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Отдельные экспериментальные функции будут появляться только после того, как базовый рабочий цикл станет стабильным.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Roadmap в одной линии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4241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Каждая версия добавляет законченный слой, а не набор случайных функций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2788920"/>
            <a:ext cx="10744200" cy="0"/>
          </a:xfrm>
          <a:prstGeom prst="line">
            <a:avLst/>
          </a:prstGeom>
          <a:noFill/>
          <a:ln w="38100">
            <a:solidFill>
              <a:srgbClr val="2C3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2697480"/>
            <a:ext cx="182880" cy="182880"/>
          </a:xfrm>
          <a:prstGeom prst="ellipse">
            <a:avLst/>
          </a:prstGeom>
          <a:solidFill>
            <a:srgbClr val="67E28F"/>
          </a:solidFill>
          <a:ln w="12700">
            <a:solidFill>
              <a:srgbClr val="67E2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2953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7E2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v0.4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" y="3200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Стабильный анализ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412492" y="2697480"/>
            <a:ext cx="182880" cy="182880"/>
          </a:xfrm>
          <a:prstGeom prst="ellipse">
            <a:avLst/>
          </a:prstGeom>
          <a:solidFill>
            <a:srgbClr val="3FE0D0"/>
          </a:solidFill>
          <a:ln w="12700">
            <a:solidFill>
              <a:srgbClr val="3FE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92452" y="2953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E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v0.5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63852" y="3200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Глубокое понимание и поиск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203192" y="2697480"/>
            <a:ext cx="182880" cy="182880"/>
          </a:xfrm>
          <a:prstGeom prst="ellipse">
            <a:avLst/>
          </a:prstGeom>
          <a:solidFill>
            <a:srgbClr val="FF6C7A"/>
          </a:solidFill>
          <a:ln w="12700">
            <a:solidFill>
              <a:srgbClr val="FF6C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3152" y="2953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C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v0.6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4552" y="3200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Repair &amp; Stems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5993892" y="2697480"/>
            <a:ext cx="182880" cy="182880"/>
          </a:xfrm>
          <a:prstGeom prst="ellipse">
            <a:avLst/>
          </a:prstGeom>
          <a:solidFill>
            <a:srgbClr val="FFB45E"/>
          </a:solidFill>
          <a:ln w="12700">
            <a:solidFill>
              <a:srgbClr val="FFB4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73852" y="2953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5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v0.7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45252" y="3200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Studio Finish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7784592" y="2697480"/>
            <a:ext cx="182880" cy="182880"/>
          </a:xfrm>
          <a:prstGeom prst="ellipse">
            <a:avLst/>
          </a:prstGeom>
          <a:solidFill>
            <a:srgbClr val="5EA8FF"/>
          </a:solidFill>
          <a:ln w="12700">
            <a:solidFill>
              <a:srgbClr val="5EA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64552" y="2953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A8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v0.8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35952" y="3200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Каталог и доставка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9575292" y="2697480"/>
            <a:ext cx="182880" cy="182880"/>
          </a:xfrm>
          <a:prstGeom prst="ellipse">
            <a:avLst/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5252" y="2953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v0.9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26652" y="3200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Визуальный workflow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11365992" y="2697480"/>
            <a:ext cx="182880" cy="182880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45952" y="2953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v1.0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17352" y="3200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F899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Единая лаборатория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1325880" y="4160520"/>
            <a:ext cx="9555480" cy="1143000"/>
          </a:xfrm>
          <a:prstGeom prst="roundRect">
            <a:avLst>
              <a:gd name="adj" fmla="val 9600"/>
            </a:avLst>
          </a:prstGeom>
          <a:solidFill>
            <a:srgbClr val="10141C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19072" y="4462272"/>
            <a:ext cx="8759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Главный принцип разработки: экспериментальная функция не должна ломать уже работающий анализ. Каждый новый слой можно проверить, сравнить и при необходимости отключить отдельно.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4980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3FE0D0">
              <a:alpha val="18000"/>
            </a:srgbClr>
          </a:solidFill>
          <a:ln w="10160">
            <a:solidFill>
              <a:srgbClr val="3FE0D0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1838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FE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ЦЕЛЬ ПРОЕКТА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7132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Музыка должна быть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4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понятной и управляемой.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337560"/>
            <a:ext cx="699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8D0D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Genre_test должен дать человеку простой путь: добавить музыку → понять её → найти нужное → исправить слабые места → сравнить варианты → сохранить проверенный финал.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38160" y="1280160"/>
            <a:ext cx="3063240" cy="3611880"/>
          </a:xfrm>
          <a:prstGeom prst="roundRect">
            <a:avLst>
              <a:gd name="adj" fmla="val 3582"/>
            </a:avLst>
          </a:prstGeom>
          <a:solidFill>
            <a:srgbClr val="10141C"/>
          </a:solidFill>
          <a:ln w="12700">
            <a:solidFill>
              <a:srgbClr val="1D2430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832354"/>
            <a:ext cx="131781" cy="-160477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1421" y="2671877"/>
            <a:ext cx="131781" cy="-296266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13202" y="2375611"/>
            <a:ext cx="131781" cy="222199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4984" y="2597810"/>
            <a:ext cx="131781" cy="-543154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76765" y="2054657"/>
            <a:ext cx="131781" cy="432054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08546" y="2486711"/>
            <a:ext cx="131781" cy="-604876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40327" y="1881835"/>
            <a:ext cx="131781" cy="456743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72108" y="2338578"/>
            <a:ext cx="131781" cy="296266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3889" y="2634844"/>
            <a:ext cx="131781" cy="-481432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35671" y="2153412"/>
            <a:ext cx="131781" cy="296266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67452" y="2449678"/>
            <a:ext cx="131781" cy="-444398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99233" y="2005279"/>
            <a:ext cx="131781" cy="530809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31014" y="2536088"/>
            <a:ext cx="131781" cy="-308610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62795" y="2227478"/>
            <a:ext cx="131781" cy="481432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94576" y="2708910"/>
            <a:ext cx="131781" cy="-283921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26358" y="2424989"/>
            <a:ext cx="131781" cy="370332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58139" y="2795321"/>
            <a:ext cx="131781" cy="-197510"/>
          </a:xfrm>
          <a:prstGeom prst="line">
            <a:avLst/>
          </a:prstGeom>
          <a:noFill/>
          <a:ln w="27940">
            <a:solidFill>
              <a:srgbClr val="3FE0D0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3246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E2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Локально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58200" y="3749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A8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Понятно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58200" y="4251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7B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Повторяемо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13232" y="5166360"/>
            <a:ext cx="5166360" cy="310896"/>
          </a:xfrm>
          <a:prstGeom prst="roundRect">
            <a:avLst>
              <a:gd name="adj" fmla="val 50000"/>
            </a:avLst>
          </a:prstGeom>
          <a:solidFill>
            <a:srgbClr val="9B7BFF">
              <a:alpha val="18000"/>
            </a:srgbClr>
          </a:solidFill>
          <a:ln w="10160">
            <a:solidFill>
              <a:srgbClr val="9B7BFF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5234940"/>
            <a:ext cx="4983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B7B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ПРОСТО ОПРЕДЕЛИТЬ ЖАНР — ПОНЯТЬ И ПОДГОТОВИТЬ МУЗЫКУ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785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Genre_test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Genre_test — локальная музыкальная лаборатория</dc:title>
  <dc:subject>Русская презентация проекта Genre_test</dc:subject>
  <dc:creator>Genre_test</dc:creator>
  <cp:lastModifiedBy>Genre_test</cp:lastModifiedBy>
  <cp:revision>1</cp:revision>
  <dcterms:created xsi:type="dcterms:W3CDTF">2026-08-26T13:30:02Z</dcterms:created>
  <dcterms:modified xsi:type="dcterms:W3CDTF">2026-08-26T13:30:02Z</dcterms:modified>
</cp:coreProperties>
</file>